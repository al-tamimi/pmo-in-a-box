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1737360" y="84124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06C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[Your Country]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777240" y="2286000"/>
            <a:ext cx="7132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004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PMO Establishment Package</a:t>
            </a:r>
            <a:endParaRPr lang="en-US" sz="4400" dirty="0"/>
          </a:p>
        </p:txBody>
      </p:sp>
      <p:sp>
        <p:nvSpPr>
          <p:cNvPr id="6" name="Shape 2"/>
          <p:cNvSpPr/>
          <p:nvPr/>
        </p:nvSpPr>
        <p:spPr>
          <a:xfrm>
            <a:off x="777240" y="4297680"/>
            <a:ext cx="2377440" cy="0"/>
          </a:xfrm>
          <a:prstGeom prst="line">
            <a:avLst/>
          </a:prstGeom>
          <a:noFill/>
          <a:ln w="31750">
            <a:solidFill>
              <a:srgbClr val="006C35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77240" y="452628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4E5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· Documentation · Templates · Procedures · Step-by-step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777240" y="6217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3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[Your Organization]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34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006C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96112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04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 Project Management Office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777240" y="1783080"/>
            <a:ext cx="2377440" cy="0"/>
          </a:xfrm>
          <a:prstGeom prst="line">
            <a:avLst/>
          </a:prstGeom>
          <a:noFill/>
          <a:ln w="25400">
            <a:solidFill>
              <a:srgbClr val="006C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286000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E8C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697480"/>
            <a:ext cx="30876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4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initiatives, higher stakes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3657600"/>
            <a:ext cx="30876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E5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Ad-hoc delivery cannot keep pace or protect value.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22064" y="2286000"/>
            <a:ext cx="0" cy="2926080"/>
          </a:xfrm>
          <a:prstGeom prst="line">
            <a:avLst/>
          </a:prstGeom>
          <a:noFill/>
          <a:ln w="12700">
            <a:solidFill>
              <a:srgbClr val="D9E6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04944" y="2286000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E8C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04944" y="2697480"/>
            <a:ext cx="30876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4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Inconsistency erodes value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04944" y="3657600"/>
            <a:ext cx="30876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E5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times stretch, governance stays advisory, benefits slip.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866888" y="2286000"/>
            <a:ext cx="0" cy="2926080"/>
          </a:xfrm>
          <a:prstGeom prst="line">
            <a:avLst/>
          </a:prstGeom>
          <a:noFill/>
          <a:ln w="12700">
            <a:solidFill>
              <a:srgbClr val="D9E6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9768" y="2286000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E8C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049768" y="2697480"/>
            <a:ext cx="30876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4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PMO brings discipline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049768" y="3657600"/>
            <a:ext cx="30876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E5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methodology, transparent reporting, real governance, measured benefits.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77240" y="6400800"/>
            <a:ext cx="10634472" cy="0"/>
          </a:xfrm>
          <a:prstGeom prst="line">
            <a:avLst/>
          </a:prstGeom>
          <a:noFill/>
          <a:ln w="12700">
            <a:solidFill>
              <a:srgbClr val="D9E6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7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[Your Organization]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54112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7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v1.0 · 2026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34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006C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96112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04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where you stand: P3M3 maturity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777240" y="1783080"/>
            <a:ext cx="2377440" cy="0"/>
          </a:xfrm>
          <a:prstGeom prst="line">
            <a:avLst/>
          </a:prstGeom>
          <a:noFill/>
          <a:ln w="25400">
            <a:solidFill>
              <a:srgbClr val="006C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011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E5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 maturity across five levels, then target the next. The package's tools move maturity up.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50976" y="4754880"/>
            <a:ext cx="1691640" cy="1188720"/>
          </a:xfrm>
          <a:prstGeom prst="rect">
            <a:avLst/>
          </a:prstGeom>
          <a:solidFill>
            <a:srgbClr val="3E8C5E"/>
          </a:solidFill>
          <a:ln w="19050">
            <a:solidFill>
              <a:srgbClr val="FBFC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" y="48280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22376" y="605332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099816" y="4206240"/>
            <a:ext cx="1691640" cy="1737360"/>
          </a:xfrm>
          <a:prstGeom prst="rect">
            <a:avLst/>
          </a:prstGeom>
          <a:solidFill>
            <a:srgbClr val="3E8C5E"/>
          </a:solidFill>
          <a:ln w="19050">
            <a:solidFill>
              <a:srgbClr val="FBFCF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99816" y="427939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871216" y="605332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Repeatable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248656" y="3657600"/>
            <a:ext cx="1691640" cy="2286000"/>
          </a:xfrm>
          <a:prstGeom prst="rect">
            <a:avLst/>
          </a:prstGeom>
          <a:solidFill>
            <a:srgbClr val="3E8C5E"/>
          </a:solidFill>
          <a:ln w="19050">
            <a:solidFill>
              <a:srgbClr val="FBFC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48656" y="373075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020056" y="605332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97496" y="3108960"/>
            <a:ext cx="1691640" cy="2834640"/>
          </a:xfrm>
          <a:prstGeom prst="rect">
            <a:avLst/>
          </a:prstGeom>
          <a:solidFill>
            <a:srgbClr val="00481F"/>
          </a:solidFill>
          <a:ln w="19050">
            <a:solidFill>
              <a:srgbClr val="FBFC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97496" y="318211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168896" y="605332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546336" y="2560320"/>
            <a:ext cx="1691640" cy="3383280"/>
          </a:xfrm>
          <a:prstGeom prst="rect">
            <a:avLst/>
          </a:prstGeom>
          <a:solidFill>
            <a:srgbClr val="00481F"/>
          </a:solidFill>
          <a:ln w="19050">
            <a:solidFill>
              <a:srgbClr val="FBFCF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46336" y="263347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317736" y="605332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" y="6400800"/>
            <a:ext cx="10634472" cy="0"/>
          </a:xfrm>
          <a:prstGeom prst="line">
            <a:avLst/>
          </a:prstGeom>
          <a:noFill/>
          <a:ln w="12700">
            <a:solidFill>
              <a:srgbClr val="D9E6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7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[Your Organization]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754112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7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v1.0 · 2026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34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006C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96112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04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 the PMO in five stages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777240" y="1783080"/>
            <a:ext cx="2377440" cy="0"/>
          </a:xfrm>
          <a:prstGeom prst="line">
            <a:avLst/>
          </a:prstGeom>
          <a:noFill/>
          <a:ln w="25400">
            <a:solidFill>
              <a:srgbClr val="006C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14884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6C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920240" y="2148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4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754880" y="2148840"/>
            <a:ext cx="6656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4E5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maturity, profile the portfolio, find the gaps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77240" y="2880360"/>
            <a:ext cx="10634472" cy="0"/>
          </a:xfrm>
          <a:prstGeom prst="line">
            <a:avLst/>
          </a:prstGeom>
          <a:noFill/>
          <a:ln w="12700">
            <a:solidFill>
              <a:srgbClr val="D9E6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990088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6C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1920240" y="299008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4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754880" y="2990088"/>
            <a:ext cx="6656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4E5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mandate, type, services, and benefits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77240" y="3721608"/>
            <a:ext cx="10634472" cy="0"/>
          </a:xfrm>
          <a:prstGeom prst="line">
            <a:avLst/>
          </a:prstGeom>
          <a:noFill/>
          <a:ln w="12700">
            <a:solidFill>
              <a:srgbClr val="D9E6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831336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6C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1920240" y="383133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4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754880" y="3831336"/>
            <a:ext cx="6656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4E5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Methodology, governance, operations, staffing, audit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77240" y="4562856"/>
            <a:ext cx="10634472" cy="0"/>
          </a:xfrm>
          <a:prstGeom prst="line">
            <a:avLst/>
          </a:prstGeom>
          <a:noFill/>
          <a:ln w="12700">
            <a:solidFill>
              <a:srgbClr val="D9E6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672584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6C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1920240" y="467258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4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754880" y="4672584"/>
            <a:ext cx="6656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4E5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projects with the full set of lifecycle templates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77240" y="5404104"/>
            <a:ext cx="10634472" cy="0"/>
          </a:xfrm>
          <a:prstGeom prst="line">
            <a:avLst/>
          </a:prstGeom>
          <a:noFill/>
          <a:ln w="12700">
            <a:solidFill>
              <a:srgbClr val="D9E6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513832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6C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1920240" y="55138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4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&amp; Improve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754880" y="5513832"/>
            <a:ext cx="6656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4E5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KPIs, report, and improve the framework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777240" y="6400800"/>
            <a:ext cx="10634472" cy="0"/>
          </a:xfrm>
          <a:prstGeom prst="line">
            <a:avLst/>
          </a:prstGeom>
          <a:noFill/>
          <a:ln w="12700">
            <a:solidFill>
              <a:srgbClr val="D9E6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7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[Your Organization]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54112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7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v1.0 · 2026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34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006C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96112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04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good looks like, measured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777240" y="1783080"/>
            <a:ext cx="2377440" cy="0"/>
          </a:xfrm>
          <a:prstGeom prst="line">
            <a:avLst/>
          </a:prstGeom>
          <a:noFill/>
          <a:ln w="25400">
            <a:solidFill>
              <a:srgbClr val="006C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286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3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sponsor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383280" y="2331720"/>
            <a:ext cx="3657600" cy="237744"/>
          </a:xfrm>
          <a:prstGeom prst="roundRect">
            <a:avLst>
              <a:gd name="adj" fmla="val 50000"/>
            </a:avLst>
          </a:prstGeom>
          <a:solidFill>
            <a:srgbClr val="EFF5EE"/>
          </a:solidFill>
          <a:ln/>
        </p:spPr>
      </p:sp>
      <p:sp>
        <p:nvSpPr>
          <p:cNvPr id="7" name="Shape 5"/>
          <p:cNvSpPr/>
          <p:nvPr/>
        </p:nvSpPr>
        <p:spPr>
          <a:xfrm>
            <a:off x="3383280" y="2331720"/>
            <a:ext cx="3657600" cy="237744"/>
          </a:xfrm>
          <a:prstGeom prst="roundRect">
            <a:avLst>
              <a:gd name="adj" fmla="val 50000"/>
            </a:avLst>
          </a:prstGeom>
          <a:solidFill>
            <a:srgbClr val="006C35"/>
          </a:solidFill>
          <a:ln/>
        </p:spPr>
      </p:sp>
      <p:sp>
        <p:nvSpPr>
          <p:cNvPr id="8" name="Text 6"/>
          <p:cNvSpPr/>
          <p:nvPr/>
        </p:nvSpPr>
        <p:spPr>
          <a:xfrm>
            <a:off x="7242048" y="2286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4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834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3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alignment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383280" y="2880360"/>
            <a:ext cx="3657600" cy="237744"/>
          </a:xfrm>
          <a:prstGeom prst="roundRect">
            <a:avLst>
              <a:gd name="adj" fmla="val 50000"/>
            </a:avLst>
          </a:prstGeom>
          <a:solidFill>
            <a:srgbClr val="EFF5EE"/>
          </a:solidFill>
          <a:ln/>
        </p:spPr>
      </p:sp>
      <p:sp>
        <p:nvSpPr>
          <p:cNvPr id="11" name="Shape 9"/>
          <p:cNvSpPr/>
          <p:nvPr/>
        </p:nvSpPr>
        <p:spPr>
          <a:xfrm>
            <a:off x="3383280" y="2880360"/>
            <a:ext cx="3474720" cy="237744"/>
          </a:xfrm>
          <a:prstGeom prst="roundRect">
            <a:avLst>
              <a:gd name="adj" fmla="val 50000"/>
            </a:avLst>
          </a:prstGeom>
          <a:solidFill>
            <a:srgbClr val="006C35"/>
          </a:solidFill>
          <a:ln/>
        </p:spPr>
      </p:sp>
      <p:sp>
        <p:nvSpPr>
          <p:cNvPr id="12" name="Text 10"/>
          <p:cNvSpPr/>
          <p:nvPr/>
        </p:nvSpPr>
        <p:spPr>
          <a:xfrm>
            <a:off x="7242048" y="283464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4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3383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3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On-time delivery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383280" y="3429000"/>
            <a:ext cx="3657600" cy="237744"/>
          </a:xfrm>
          <a:prstGeom prst="roundRect">
            <a:avLst>
              <a:gd name="adj" fmla="val 50000"/>
            </a:avLst>
          </a:prstGeom>
          <a:solidFill>
            <a:srgbClr val="EFF5EE"/>
          </a:solidFill>
          <a:ln/>
        </p:spPr>
      </p:sp>
      <p:sp>
        <p:nvSpPr>
          <p:cNvPr id="15" name="Shape 13"/>
          <p:cNvSpPr/>
          <p:nvPr/>
        </p:nvSpPr>
        <p:spPr>
          <a:xfrm>
            <a:off x="3383280" y="3429000"/>
            <a:ext cx="3291840" cy="237744"/>
          </a:xfrm>
          <a:prstGeom prst="roundRect">
            <a:avLst>
              <a:gd name="adj" fmla="val 50000"/>
            </a:avLst>
          </a:prstGeom>
          <a:solidFill>
            <a:srgbClr val="006C35"/>
          </a:solidFill>
          <a:ln/>
        </p:spPr>
      </p:sp>
      <p:sp>
        <p:nvSpPr>
          <p:cNvPr id="16" name="Text 14"/>
          <p:cNvSpPr/>
          <p:nvPr/>
        </p:nvSpPr>
        <p:spPr>
          <a:xfrm>
            <a:off x="7242048" y="338328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4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3931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3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 satisfaction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383280" y="3977640"/>
            <a:ext cx="3657600" cy="237744"/>
          </a:xfrm>
          <a:prstGeom prst="roundRect">
            <a:avLst>
              <a:gd name="adj" fmla="val 50000"/>
            </a:avLst>
          </a:prstGeom>
          <a:solidFill>
            <a:srgbClr val="EFF5EE"/>
          </a:solidFill>
          <a:ln/>
        </p:spPr>
      </p:sp>
      <p:sp>
        <p:nvSpPr>
          <p:cNvPr id="19" name="Shape 17"/>
          <p:cNvSpPr/>
          <p:nvPr/>
        </p:nvSpPr>
        <p:spPr>
          <a:xfrm>
            <a:off x="3383280" y="3977640"/>
            <a:ext cx="3291840" cy="237744"/>
          </a:xfrm>
          <a:prstGeom prst="roundRect">
            <a:avLst>
              <a:gd name="adj" fmla="val 50000"/>
            </a:avLst>
          </a:prstGeom>
          <a:solidFill>
            <a:srgbClr val="006C35"/>
          </a:solidFill>
          <a:ln/>
        </p:spPr>
      </p:sp>
      <p:sp>
        <p:nvSpPr>
          <p:cNvPr id="20" name="Text 18"/>
          <p:cNvSpPr/>
          <p:nvPr/>
        </p:nvSpPr>
        <p:spPr>
          <a:xfrm>
            <a:off x="7242048" y="393192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4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" y="4480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3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On-budget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383280" y="4526280"/>
            <a:ext cx="3657600" cy="237744"/>
          </a:xfrm>
          <a:prstGeom prst="roundRect">
            <a:avLst>
              <a:gd name="adj" fmla="val 50000"/>
            </a:avLst>
          </a:prstGeom>
          <a:solidFill>
            <a:srgbClr val="EFF5EE"/>
          </a:solidFill>
          <a:ln/>
        </p:spPr>
      </p:sp>
      <p:sp>
        <p:nvSpPr>
          <p:cNvPr id="23" name="Shape 21"/>
          <p:cNvSpPr/>
          <p:nvPr/>
        </p:nvSpPr>
        <p:spPr>
          <a:xfrm>
            <a:off x="3383280" y="4526280"/>
            <a:ext cx="3108960" cy="237744"/>
          </a:xfrm>
          <a:prstGeom prst="roundRect">
            <a:avLst>
              <a:gd name="adj" fmla="val 50000"/>
            </a:avLst>
          </a:prstGeom>
          <a:solidFill>
            <a:srgbClr val="006C35"/>
          </a:solidFill>
          <a:ln/>
        </p:spPr>
      </p:sp>
      <p:sp>
        <p:nvSpPr>
          <p:cNvPr id="24" name="Text 22"/>
          <p:cNvSpPr/>
          <p:nvPr/>
        </p:nvSpPr>
        <p:spPr>
          <a:xfrm>
            <a:off x="7242048" y="448056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4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7240" y="5029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3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realized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3383280" y="5074920"/>
            <a:ext cx="3657600" cy="237744"/>
          </a:xfrm>
          <a:prstGeom prst="roundRect">
            <a:avLst>
              <a:gd name="adj" fmla="val 50000"/>
            </a:avLst>
          </a:prstGeom>
          <a:solidFill>
            <a:srgbClr val="EFF5EE"/>
          </a:solidFill>
          <a:ln/>
        </p:spPr>
      </p:sp>
      <p:sp>
        <p:nvSpPr>
          <p:cNvPr id="27" name="Shape 25"/>
          <p:cNvSpPr/>
          <p:nvPr/>
        </p:nvSpPr>
        <p:spPr>
          <a:xfrm>
            <a:off x="3383280" y="5074920"/>
            <a:ext cx="2926080" cy="237744"/>
          </a:xfrm>
          <a:prstGeom prst="roundRect">
            <a:avLst>
              <a:gd name="adj" fmla="val 50000"/>
            </a:avLst>
          </a:prstGeom>
          <a:solidFill>
            <a:srgbClr val="006C35"/>
          </a:solidFill>
          <a:ln/>
        </p:spPr>
      </p:sp>
      <p:sp>
        <p:nvSpPr>
          <p:cNvPr id="28" name="Text 26"/>
          <p:cNvSpPr/>
          <p:nvPr/>
        </p:nvSpPr>
        <p:spPr>
          <a:xfrm>
            <a:off x="7242048" y="50292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4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385048" y="2651760"/>
            <a:ext cx="128016" cy="128016"/>
          </a:xfrm>
          <a:prstGeom prst="rect">
            <a:avLst/>
          </a:prstGeom>
          <a:solidFill>
            <a:srgbClr val="006C35"/>
          </a:solidFill>
          <a:ln/>
        </p:spPr>
      </p:sp>
      <p:sp>
        <p:nvSpPr>
          <p:cNvPr id="30" name="Text 28"/>
          <p:cNvSpPr/>
          <p:nvPr/>
        </p:nvSpPr>
        <p:spPr>
          <a:xfrm>
            <a:off x="8659368" y="2569464"/>
            <a:ext cx="2752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E5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 KPIs across delivery, alignment, governance, capability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385048" y="3703320"/>
            <a:ext cx="128016" cy="128016"/>
          </a:xfrm>
          <a:prstGeom prst="rect">
            <a:avLst/>
          </a:prstGeom>
          <a:solidFill>
            <a:srgbClr val="006C35"/>
          </a:solidFill>
          <a:ln/>
        </p:spPr>
      </p:sp>
      <p:sp>
        <p:nvSpPr>
          <p:cNvPr id="32" name="Text 30"/>
          <p:cNvSpPr/>
          <p:nvPr/>
        </p:nvSpPr>
        <p:spPr>
          <a:xfrm>
            <a:off x="8659368" y="3621024"/>
            <a:ext cx="2752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E5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targets make “good” explicit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385048" y="4754880"/>
            <a:ext cx="128016" cy="128016"/>
          </a:xfrm>
          <a:prstGeom prst="rect">
            <a:avLst/>
          </a:prstGeom>
          <a:solidFill>
            <a:srgbClr val="006C35"/>
          </a:solidFill>
          <a:ln/>
        </p:spPr>
      </p:sp>
      <p:sp>
        <p:nvSpPr>
          <p:cNvPr id="34" name="Text 32"/>
          <p:cNvSpPr/>
          <p:nvPr/>
        </p:nvSpPr>
        <p:spPr>
          <a:xfrm>
            <a:off x="8659368" y="4672584"/>
            <a:ext cx="2752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E5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Maturity scanned across 15+ dimensions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77240" y="5989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717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PMO KPI Dashboard · illustrative targets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77240" y="6400800"/>
            <a:ext cx="10634472" cy="0"/>
          </a:xfrm>
          <a:prstGeom prst="line">
            <a:avLst/>
          </a:prstGeom>
          <a:noFill/>
          <a:ln w="12700">
            <a:solidFill>
              <a:srgbClr val="D9E6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7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[Your Organization]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754112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7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v1.0 · 2026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34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006C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96112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04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in the package, and what each is for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777240" y="1783080"/>
            <a:ext cx="2377440" cy="0"/>
          </a:xfrm>
          <a:prstGeom prst="line">
            <a:avLst/>
          </a:prstGeom>
          <a:noFill/>
          <a:ln w="25400">
            <a:solidFill>
              <a:srgbClr val="006C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103120"/>
            <a:ext cx="5042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06C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 &amp; Frameworks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2542032"/>
            <a:ext cx="5042916" cy="0"/>
          </a:xfrm>
          <a:prstGeom prst="line">
            <a:avLst/>
          </a:prstGeom>
          <a:noFill/>
          <a:ln w="12700">
            <a:solidFill>
              <a:srgbClr val="D9E6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697480"/>
            <a:ext cx="292489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PMO Charter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895265" y="2697480"/>
            <a:ext cx="292489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17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Mandate, authority, scope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77240" y="3209544"/>
            <a:ext cx="5042916" cy="0"/>
          </a:xfrm>
          <a:prstGeom prst="line">
            <a:avLst/>
          </a:prstGeom>
          <a:noFill/>
          <a:ln w="12700">
            <a:solidFill>
              <a:srgbClr val="ECF1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264408"/>
            <a:ext cx="292489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Catalogue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895265" y="3264408"/>
            <a:ext cx="292489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17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services offered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77240" y="3776472"/>
            <a:ext cx="5042916" cy="0"/>
          </a:xfrm>
          <a:prstGeom prst="line">
            <a:avLst/>
          </a:prstGeom>
          <a:noFill/>
          <a:ln w="12700">
            <a:solidFill>
              <a:srgbClr val="ECF1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831336"/>
            <a:ext cx="292489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Model &amp; Type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895265" y="3831336"/>
            <a:ext cx="292489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17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and type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77240" y="4343400"/>
            <a:ext cx="5042916" cy="0"/>
          </a:xfrm>
          <a:prstGeom prst="line">
            <a:avLst/>
          </a:prstGeom>
          <a:noFill/>
          <a:ln w="12700">
            <a:solidFill>
              <a:srgbClr val="ECF1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398264"/>
            <a:ext cx="292489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Realisation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895265" y="4398264"/>
            <a:ext cx="292489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17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Define, track, sustain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77240" y="4910328"/>
            <a:ext cx="5042916" cy="0"/>
          </a:xfrm>
          <a:prstGeom prst="line">
            <a:avLst/>
          </a:prstGeom>
          <a:noFill/>
          <a:ln w="12700">
            <a:solidFill>
              <a:srgbClr val="ECF1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965192"/>
            <a:ext cx="292489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Methodologies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895265" y="4965192"/>
            <a:ext cx="292489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17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 and lifecycle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77240" y="5477256"/>
            <a:ext cx="5042916" cy="0"/>
          </a:xfrm>
          <a:prstGeom prst="line">
            <a:avLst/>
          </a:prstGeom>
          <a:noFill/>
          <a:ln w="12700">
            <a:solidFill>
              <a:srgbClr val="ECF1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532120"/>
            <a:ext cx="292489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Plan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895265" y="5532120"/>
            <a:ext cx="292489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17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Committees and decisions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77240" y="6044184"/>
            <a:ext cx="5042916" cy="0"/>
          </a:xfrm>
          <a:prstGeom prst="line">
            <a:avLst/>
          </a:prstGeom>
          <a:noFill/>
          <a:ln w="12700">
            <a:solidFill>
              <a:srgbClr val="ECF1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68796" y="2103120"/>
            <a:ext cx="5042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06C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Procedures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68796" y="2542032"/>
            <a:ext cx="5042916" cy="0"/>
          </a:xfrm>
          <a:prstGeom prst="line">
            <a:avLst/>
          </a:prstGeom>
          <a:noFill/>
          <a:ln w="12700">
            <a:solidFill>
              <a:srgbClr val="D9E6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68796" y="2697480"/>
            <a:ext cx="292489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Request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486821" y="2697480"/>
            <a:ext cx="292489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17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changes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368796" y="3209544"/>
            <a:ext cx="5042916" cy="0"/>
          </a:xfrm>
          <a:prstGeom prst="line">
            <a:avLst/>
          </a:prstGeom>
          <a:noFill/>
          <a:ln w="12700">
            <a:solidFill>
              <a:srgbClr val="ECF1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68796" y="3264408"/>
            <a:ext cx="292489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&amp; Issue logs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486821" y="3264408"/>
            <a:ext cx="292489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17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and resolve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368796" y="3776472"/>
            <a:ext cx="5042916" cy="0"/>
          </a:xfrm>
          <a:prstGeom prst="line">
            <a:avLst/>
          </a:prstGeom>
          <a:noFill/>
          <a:ln w="12700">
            <a:solidFill>
              <a:srgbClr val="ECF1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68796" y="3831336"/>
            <a:ext cx="292489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Deliverables Mgmt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486821" y="3831336"/>
            <a:ext cx="292489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17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and accept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368796" y="4343400"/>
            <a:ext cx="5042916" cy="0"/>
          </a:xfrm>
          <a:prstGeom prst="line">
            <a:avLst/>
          </a:prstGeom>
          <a:noFill/>
          <a:ln w="12700">
            <a:solidFill>
              <a:srgbClr val="ECF1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68796" y="4398264"/>
            <a:ext cx="292489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Auditing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486821" y="4398264"/>
            <a:ext cx="292489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17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Assurance and compliance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368796" y="4910328"/>
            <a:ext cx="5042916" cy="0"/>
          </a:xfrm>
          <a:prstGeom prst="line">
            <a:avLst/>
          </a:prstGeom>
          <a:noFill/>
          <a:ln w="12700">
            <a:solidFill>
              <a:srgbClr val="ECF1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68796" y="4965192"/>
            <a:ext cx="292489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Classification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486821" y="4965192"/>
            <a:ext cx="292489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17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by size and risk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368796" y="5477256"/>
            <a:ext cx="5042916" cy="0"/>
          </a:xfrm>
          <a:prstGeom prst="line">
            <a:avLst/>
          </a:prstGeom>
          <a:noFill/>
          <a:ln w="12700">
            <a:solidFill>
              <a:srgbClr val="ECF1E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77240" y="6400800"/>
            <a:ext cx="10634472" cy="0"/>
          </a:xfrm>
          <a:prstGeom prst="line">
            <a:avLst/>
          </a:prstGeom>
          <a:noFill/>
          <a:ln w="12700">
            <a:solidFill>
              <a:srgbClr val="D9E6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7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[Your Organization]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754112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7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v1.0 · 2026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34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006C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96112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04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 contents, continued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777240" y="1783080"/>
            <a:ext cx="2377440" cy="0"/>
          </a:xfrm>
          <a:prstGeom prst="line">
            <a:avLst/>
          </a:prstGeom>
          <a:noFill/>
          <a:ln w="25400">
            <a:solidFill>
              <a:srgbClr val="006C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103120"/>
            <a:ext cx="5042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06C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2542032"/>
            <a:ext cx="5042916" cy="0"/>
          </a:xfrm>
          <a:prstGeom prst="line">
            <a:avLst/>
          </a:prstGeom>
          <a:noFill/>
          <a:ln w="12700">
            <a:solidFill>
              <a:srgbClr val="D9E6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697480"/>
            <a:ext cx="292489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Charter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895265" y="2697480"/>
            <a:ext cx="292489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17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 a project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77240" y="3209544"/>
            <a:ext cx="5042916" cy="0"/>
          </a:xfrm>
          <a:prstGeom prst="line">
            <a:avLst/>
          </a:prstGeom>
          <a:noFill/>
          <a:ln w="12700">
            <a:solidFill>
              <a:srgbClr val="ECF1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264408"/>
            <a:ext cx="292489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Case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895265" y="3264408"/>
            <a:ext cx="292489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17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Justify the investment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77240" y="3776472"/>
            <a:ext cx="5042916" cy="0"/>
          </a:xfrm>
          <a:prstGeom prst="line">
            <a:avLst/>
          </a:prstGeom>
          <a:noFill/>
          <a:ln w="12700">
            <a:solidFill>
              <a:srgbClr val="ECF1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831336"/>
            <a:ext cx="292489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&amp; Requirements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895265" y="3831336"/>
            <a:ext cx="292489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17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scope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77240" y="4343400"/>
            <a:ext cx="5042916" cy="0"/>
          </a:xfrm>
          <a:prstGeom prst="line">
            <a:avLst/>
          </a:prstGeom>
          <a:noFill/>
          <a:ln w="12700">
            <a:solidFill>
              <a:srgbClr val="ECF1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398264"/>
            <a:ext cx="292489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895265" y="4398264"/>
            <a:ext cx="292489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17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Clarify responsibilities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77240" y="4910328"/>
            <a:ext cx="5042916" cy="0"/>
          </a:xfrm>
          <a:prstGeom prst="line">
            <a:avLst/>
          </a:prstGeom>
          <a:noFill/>
          <a:ln w="12700">
            <a:solidFill>
              <a:srgbClr val="ECF1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965192"/>
            <a:ext cx="292489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 &amp; Comms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895265" y="4965192"/>
            <a:ext cx="292489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17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 and inform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77240" y="5477256"/>
            <a:ext cx="5042916" cy="0"/>
          </a:xfrm>
          <a:prstGeom prst="line">
            <a:avLst/>
          </a:prstGeom>
          <a:noFill/>
          <a:ln w="12700">
            <a:solidFill>
              <a:srgbClr val="ECF1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532120"/>
            <a:ext cx="292489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Lessons &amp; Closure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895265" y="5532120"/>
            <a:ext cx="292489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17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and close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77240" y="6044184"/>
            <a:ext cx="5042916" cy="0"/>
          </a:xfrm>
          <a:prstGeom prst="line">
            <a:avLst/>
          </a:prstGeom>
          <a:noFill/>
          <a:ln w="12700">
            <a:solidFill>
              <a:srgbClr val="ECF1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68796" y="2103120"/>
            <a:ext cx="5042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06C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68796" y="2542032"/>
            <a:ext cx="5042916" cy="0"/>
          </a:xfrm>
          <a:prstGeom prst="line">
            <a:avLst/>
          </a:prstGeom>
          <a:noFill/>
          <a:ln w="12700">
            <a:solidFill>
              <a:srgbClr val="D9E6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68796" y="2697480"/>
            <a:ext cx="292489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P3M3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486821" y="2697480"/>
            <a:ext cx="292489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17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maturity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368796" y="3209544"/>
            <a:ext cx="5042916" cy="0"/>
          </a:xfrm>
          <a:prstGeom prst="line">
            <a:avLst/>
          </a:prstGeom>
          <a:noFill/>
          <a:ln w="12700">
            <a:solidFill>
              <a:srgbClr val="ECF1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68796" y="3264408"/>
            <a:ext cx="292489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Tool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486821" y="3264408"/>
            <a:ext cx="292489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17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the portfolio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368796" y="3776472"/>
            <a:ext cx="5042916" cy="0"/>
          </a:xfrm>
          <a:prstGeom prst="line">
            <a:avLst/>
          </a:prstGeom>
          <a:noFill/>
          <a:ln w="12700">
            <a:solidFill>
              <a:srgbClr val="ECF1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68796" y="3831336"/>
            <a:ext cx="292489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Dashboard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486821" y="3831336"/>
            <a:ext cx="292489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17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performance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368796" y="4343400"/>
            <a:ext cx="5042916" cy="0"/>
          </a:xfrm>
          <a:prstGeom prst="line">
            <a:avLst/>
          </a:prstGeom>
          <a:noFill/>
          <a:ln w="12700">
            <a:solidFill>
              <a:srgbClr val="ECF1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68796" y="4398264"/>
            <a:ext cx="292489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486821" y="4398264"/>
            <a:ext cx="292489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17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reporting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368796" y="4910328"/>
            <a:ext cx="5042916" cy="0"/>
          </a:xfrm>
          <a:prstGeom prst="line">
            <a:avLst/>
          </a:prstGeom>
          <a:noFill/>
          <a:ln w="12700">
            <a:solidFill>
              <a:srgbClr val="ECF1E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7240" y="6400800"/>
            <a:ext cx="10634472" cy="0"/>
          </a:xfrm>
          <a:prstGeom prst="line">
            <a:avLst/>
          </a:prstGeom>
          <a:noFill/>
          <a:ln w="12700">
            <a:solidFill>
              <a:srgbClr val="D9E6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72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7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[Your Organization]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754112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7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v1.0 · 2026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4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006C35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66928"/>
            <a:ext cx="10634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3E8C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begin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777240" y="1783080"/>
            <a:ext cx="2377440" cy="0"/>
          </a:xfrm>
          <a:prstGeom prst="line">
            <a:avLst/>
          </a:prstGeom>
          <a:noFill/>
          <a:ln w="25400">
            <a:solidFill>
              <a:srgbClr val="3E8C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4688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8CC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960120" y="3200400"/>
            <a:ext cx="22014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sponsorship &amp; mandate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35858" y="2468880"/>
            <a:ext cx="0" cy="1828800"/>
          </a:xfrm>
          <a:prstGeom prst="line">
            <a:avLst/>
          </a:prstGeom>
          <a:noFill/>
          <a:ln w="12700">
            <a:solidFill>
              <a:srgbClr val="0A5A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8738" y="24688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8CC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618738" y="3200400"/>
            <a:ext cx="22014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assessment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94476" y="2468880"/>
            <a:ext cx="0" cy="1828800"/>
          </a:xfrm>
          <a:prstGeom prst="line">
            <a:avLst/>
          </a:prstGeom>
          <a:noFill/>
          <a:ln w="12700">
            <a:solidFill>
              <a:srgbClr val="0A5A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77356" y="24688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8CC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277356" y="3200400"/>
            <a:ext cx="22014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charter &amp; type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753094" y="2468880"/>
            <a:ext cx="0" cy="1828800"/>
          </a:xfrm>
          <a:prstGeom prst="line">
            <a:avLst/>
          </a:prstGeom>
          <a:noFill/>
          <a:ln w="12700">
            <a:solidFill>
              <a:srgbClr val="0A5A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35974" y="24688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8CC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935974" y="3200400"/>
            <a:ext cx="22014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Build, operate, improve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77240" y="4937760"/>
            <a:ext cx="2377440" cy="0"/>
          </a:xfrm>
          <a:prstGeom prst="line">
            <a:avLst/>
          </a:prstGeom>
          <a:noFill/>
          <a:ln w="25400">
            <a:solidFill>
              <a:srgbClr val="3E8C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5120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FE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it at the pace that suits the Office.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72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FE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[Your Organization]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54112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FE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v1.0 ·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PMO-in-a-Box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PMO Establishment Package</dc:title>
  <dc:subject/>
  <dc:creator>PMO-in-a-Box</dc:creator>
  <cp:lastModifiedBy>PMO-in-a-Box</cp:lastModifiedBy>
  <cp:revision>1</cp:revision>
  <dcterms:created xsi:type="dcterms:W3CDTF">2026-06-04T20:44:20Z</dcterms:created>
  <dcterms:modified xsi:type="dcterms:W3CDTF">2026-06-04T20:44:20Z</dcterms:modified>
</cp:coreProperties>
</file>