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1737360" y="84124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[Your Country]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777240" y="2286000"/>
            <a:ext cx="7132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PMO Establishment Package</a:t>
            </a:r>
            <a:endParaRPr lang="en-US" sz="4400" dirty="0"/>
          </a:p>
        </p:txBody>
      </p:sp>
      <p:sp>
        <p:nvSpPr>
          <p:cNvPr id="6" name="Shape 2"/>
          <p:cNvSpPr/>
          <p:nvPr/>
        </p:nvSpPr>
        <p:spPr>
          <a:xfrm>
            <a:off x="777240" y="4297680"/>
            <a:ext cx="2377440" cy="0"/>
          </a:xfrm>
          <a:prstGeom prst="line">
            <a:avLst/>
          </a:prstGeom>
          <a:noFill/>
          <a:ln w="31750">
            <a:solidFill>
              <a:srgbClr val="006C35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77240" y="45262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Documentation · Templates · Procedures · Step-by-step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77724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[Your Organization]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96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Project Management Office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377440" cy="0"/>
          </a:xfrm>
          <a:prstGeom prst="line">
            <a:avLst/>
          </a:prstGeom>
          <a:noFill/>
          <a:ln w="25400">
            <a:solidFill>
              <a:srgbClr val="006C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86000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8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3087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initiatives, higher stakes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65760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Ad-hoc delivery cannot keep pace or protect value.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064" y="2286000"/>
            <a:ext cx="0" cy="292608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4944" y="2286000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8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04944" y="2697480"/>
            <a:ext cx="3087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Inconsistency erodes value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04944" y="365760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times stretch, governance stays advisory, benefits slip.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66888" y="2286000"/>
            <a:ext cx="0" cy="292608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9768" y="2286000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8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49768" y="2697480"/>
            <a:ext cx="3087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PMO brings discipline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49768" y="365760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methodology, transparent reporting, real governance, measured benefits.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" y="6400800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[Your Organization]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54112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·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96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where you stand: P3M3 maturity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377440" cy="0"/>
          </a:xfrm>
          <a:prstGeom prst="line">
            <a:avLst/>
          </a:prstGeom>
          <a:noFill/>
          <a:ln w="25400">
            <a:solidFill>
              <a:srgbClr val="006C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maturity across five levels, then target the next. The package's tools move maturity up.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50976" y="4754880"/>
            <a:ext cx="1691640" cy="1188720"/>
          </a:xfrm>
          <a:prstGeom prst="rect">
            <a:avLst/>
          </a:prstGeom>
          <a:solidFill>
            <a:srgbClr val="3E8C5E"/>
          </a:solidFill>
          <a:ln w="19050">
            <a:solidFill>
              <a:srgbClr val="FBFC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48280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22376" y="605332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99816" y="4206240"/>
            <a:ext cx="1691640" cy="1737360"/>
          </a:xfrm>
          <a:prstGeom prst="rect">
            <a:avLst/>
          </a:prstGeom>
          <a:solidFill>
            <a:srgbClr val="3E8C5E"/>
          </a:solidFill>
          <a:ln w="19050">
            <a:solidFill>
              <a:srgbClr val="FBFC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9816" y="42793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871216" y="605332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248656" y="3657600"/>
            <a:ext cx="1691640" cy="2286000"/>
          </a:xfrm>
          <a:prstGeom prst="rect">
            <a:avLst/>
          </a:prstGeom>
          <a:solidFill>
            <a:srgbClr val="3E8C5E"/>
          </a:solidFill>
          <a:ln w="19050">
            <a:solidFill>
              <a:srgbClr val="FBFC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8656" y="37307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0056" y="605332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97496" y="3108960"/>
            <a:ext cx="1691640" cy="2834640"/>
          </a:xfrm>
          <a:prstGeom prst="rect">
            <a:avLst/>
          </a:prstGeom>
          <a:solidFill>
            <a:srgbClr val="00481F"/>
          </a:solidFill>
          <a:ln w="19050">
            <a:solidFill>
              <a:srgbClr val="FBFC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97496" y="31821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168896" y="605332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546336" y="2560320"/>
            <a:ext cx="1691640" cy="3383280"/>
          </a:xfrm>
          <a:prstGeom prst="rect">
            <a:avLst/>
          </a:prstGeom>
          <a:solidFill>
            <a:srgbClr val="00481F"/>
          </a:solidFill>
          <a:ln w="19050">
            <a:solidFill>
              <a:srgbClr val="FBFCF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46336" y="263347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317736" y="605332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" y="6400800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[Your Organization]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54112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·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96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the PMO in five stages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377440" cy="0"/>
          </a:xfrm>
          <a:prstGeom prst="line">
            <a:avLst/>
          </a:prstGeom>
          <a:noFill/>
          <a:ln w="25400">
            <a:solidFill>
              <a:srgbClr val="006C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4884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2148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754880" y="2148840"/>
            <a:ext cx="6656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maturity, profile the portfolio, find the gaps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2880360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90088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29900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754880" y="2990088"/>
            <a:ext cx="6656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mandate, type, services, and benefits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721608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831336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1920240" y="3831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54880" y="3831336"/>
            <a:ext cx="6656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Methodology, governance, operations, staffing, audit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77240" y="4562856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6725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1920240" y="4672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754880" y="4672584"/>
            <a:ext cx="6656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projects with the full set of lifecycle templates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77240" y="5404104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513832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1920240" y="55138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&amp; Improve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754880" y="5513832"/>
            <a:ext cx="6656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KPIs, report, and improve the framework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7240" y="6400800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[Your Organization]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54112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·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96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good looks like, measured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377440" cy="0"/>
          </a:xfrm>
          <a:prstGeom prst="line">
            <a:avLst/>
          </a:prstGeom>
          <a:noFill/>
          <a:ln w="25400">
            <a:solidFill>
              <a:srgbClr val="006C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sponsor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83280" y="2331720"/>
            <a:ext cx="3657600" cy="237744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/>
        </p:spPr>
      </p:sp>
      <p:sp>
        <p:nvSpPr>
          <p:cNvPr id="7" name="Shape 5"/>
          <p:cNvSpPr/>
          <p:nvPr/>
        </p:nvSpPr>
        <p:spPr>
          <a:xfrm>
            <a:off x="3383280" y="2331720"/>
            <a:ext cx="3657600" cy="237744"/>
          </a:xfrm>
          <a:prstGeom prst="roundRect">
            <a:avLst>
              <a:gd name="adj" fmla="val 50000"/>
            </a:avLst>
          </a:prstGeom>
          <a:solidFill>
            <a:srgbClr val="006C35"/>
          </a:solidFill>
          <a:ln/>
        </p:spPr>
      </p:sp>
      <p:sp>
        <p:nvSpPr>
          <p:cNvPr id="8" name="Text 6"/>
          <p:cNvSpPr/>
          <p:nvPr/>
        </p:nvSpPr>
        <p:spPr>
          <a:xfrm>
            <a:off x="7242048" y="22860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2880360"/>
            <a:ext cx="3657600" cy="237744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383280" y="2880360"/>
            <a:ext cx="3474720" cy="237744"/>
          </a:xfrm>
          <a:prstGeom prst="roundRect">
            <a:avLst>
              <a:gd name="adj" fmla="val 50000"/>
            </a:avLst>
          </a:prstGeom>
          <a:solidFill>
            <a:srgbClr val="006C35"/>
          </a:solidFill>
          <a:ln/>
        </p:spPr>
      </p:sp>
      <p:sp>
        <p:nvSpPr>
          <p:cNvPr id="12" name="Text 10"/>
          <p:cNvSpPr/>
          <p:nvPr/>
        </p:nvSpPr>
        <p:spPr>
          <a:xfrm>
            <a:off x="7242048" y="283464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On-time delivery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83280" y="3429000"/>
            <a:ext cx="3657600" cy="237744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/>
        </p:spPr>
      </p:sp>
      <p:sp>
        <p:nvSpPr>
          <p:cNvPr id="15" name="Shape 13"/>
          <p:cNvSpPr/>
          <p:nvPr/>
        </p:nvSpPr>
        <p:spPr>
          <a:xfrm>
            <a:off x="3383280" y="3429000"/>
            <a:ext cx="3291840" cy="237744"/>
          </a:xfrm>
          <a:prstGeom prst="roundRect">
            <a:avLst>
              <a:gd name="adj" fmla="val 50000"/>
            </a:avLst>
          </a:prstGeom>
          <a:solidFill>
            <a:srgbClr val="006C35"/>
          </a:solidFill>
          <a:ln/>
        </p:spPr>
      </p:sp>
      <p:sp>
        <p:nvSpPr>
          <p:cNvPr id="16" name="Text 14"/>
          <p:cNvSpPr/>
          <p:nvPr/>
        </p:nvSpPr>
        <p:spPr>
          <a:xfrm>
            <a:off x="7242048" y="338328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satisfaction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383280" y="3977640"/>
            <a:ext cx="3657600" cy="237744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/>
        </p:spPr>
      </p:sp>
      <p:sp>
        <p:nvSpPr>
          <p:cNvPr id="19" name="Shape 17"/>
          <p:cNvSpPr/>
          <p:nvPr/>
        </p:nvSpPr>
        <p:spPr>
          <a:xfrm>
            <a:off x="3383280" y="3977640"/>
            <a:ext cx="3291840" cy="237744"/>
          </a:xfrm>
          <a:prstGeom prst="roundRect">
            <a:avLst>
              <a:gd name="adj" fmla="val 50000"/>
            </a:avLst>
          </a:prstGeom>
          <a:solidFill>
            <a:srgbClr val="006C35"/>
          </a:solidFill>
          <a:ln/>
        </p:spPr>
      </p:sp>
      <p:sp>
        <p:nvSpPr>
          <p:cNvPr id="20" name="Text 18"/>
          <p:cNvSpPr/>
          <p:nvPr/>
        </p:nvSpPr>
        <p:spPr>
          <a:xfrm>
            <a:off x="7242048" y="393192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On-budget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383280" y="4526280"/>
            <a:ext cx="3657600" cy="237744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3383280" y="4526280"/>
            <a:ext cx="3108960" cy="237744"/>
          </a:xfrm>
          <a:prstGeom prst="roundRect">
            <a:avLst>
              <a:gd name="adj" fmla="val 50000"/>
            </a:avLst>
          </a:prstGeom>
          <a:solidFill>
            <a:srgbClr val="006C35"/>
          </a:solidFill>
          <a:ln/>
        </p:spPr>
      </p:sp>
      <p:sp>
        <p:nvSpPr>
          <p:cNvPr id="24" name="Text 22"/>
          <p:cNvSpPr/>
          <p:nvPr/>
        </p:nvSpPr>
        <p:spPr>
          <a:xfrm>
            <a:off x="7242048" y="44805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7240" y="5029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realized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383280" y="5074920"/>
            <a:ext cx="3657600" cy="237744"/>
          </a:xfrm>
          <a:prstGeom prst="roundRect">
            <a:avLst>
              <a:gd name="adj" fmla="val 50000"/>
            </a:avLst>
          </a:prstGeom>
          <a:solidFill>
            <a:srgbClr val="EFF5EE"/>
          </a:solidFill>
          <a:ln/>
        </p:spPr>
      </p:sp>
      <p:sp>
        <p:nvSpPr>
          <p:cNvPr id="27" name="Shape 25"/>
          <p:cNvSpPr/>
          <p:nvPr/>
        </p:nvSpPr>
        <p:spPr>
          <a:xfrm>
            <a:off x="3383280" y="5074920"/>
            <a:ext cx="2926080" cy="237744"/>
          </a:xfrm>
          <a:prstGeom prst="roundRect">
            <a:avLst>
              <a:gd name="adj" fmla="val 50000"/>
            </a:avLst>
          </a:prstGeom>
          <a:solidFill>
            <a:srgbClr val="006C35"/>
          </a:solidFill>
          <a:ln/>
        </p:spPr>
      </p:sp>
      <p:sp>
        <p:nvSpPr>
          <p:cNvPr id="28" name="Text 26"/>
          <p:cNvSpPr/>
          <p:nvPr/>
        </p:nvSpPr>
        <p:spPr>
          <a:xfrm>
            <a:off x="7242048" y="50292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385048" y="2651760"/>
            <a:ext cx="128016" cy="128016"/>
          </a:xfrm>
          <a:prstGeom prst="rect">
            <a:avLst/>
          </a:prstGeom>
          <a:solidFill>
            <a:srgbClr val="006C35"/>
          </a:solidFill>
          <a:ln/>
        </p:spPr>
      </p:sp>
      <p:sp>
        <p:nvSpPr>
          <p:cNvPr id="30" name="Text 28"/>
          <p:cNvSpPr/>
          <p:nvPr/>
        </p:nvSpPr>
        <p:spPr>
          <a:xfrm>
            <a:off x="8659368" y="2569464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 KPIs across delivery, alignment, governance, capability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385048" y="3703320"/>
            <a:ext cx="128016" cy="128016"/>
          </a:xfrm>
          <a:prstGeom prst="rect">
            <a:avLst/>
          </a:prstGeom>
          <a:solidFill>
            <a:srgbClr val="006C35"/>
          </a:solidFill>
          <a:ln/>
        </p:spPr>
      </p:sp>
      <p:sp>
        <p:nvSpPr>
          <p:cNvPr id="32" name="Text 30"/>
          <p:cNvSpPr/>
          <p:nvPr/>
        </p:nvSpPr>
        <p:spPr>
          <a:xfrm>
            <a:off x="8659368" y="3621024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targets make “good” explicit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385048" y="4754880"/>
            <a:ext cx="128016" cy="128016"/>
          </a:xfrm>
          <a:prstGeom prst="rect">
            <a:avLst/>
          </a:prstGeom>
          <a:solidFill>
            <a:srgbClr val="006C35"/>
          </a:solidFill>
          <a:ln/>
        </p:spPr>
      </p:sp>
      <p:sp>
        <p:nvSpPr>
          <p:cNvPr id="34" name="Text 32"/>
          <p:cNvSpPr/>
          <p:nvPr/>
        </p:nvSpPr>
        <p:spPr>
          <a:xfrm>
            <a:off x="8659368" y="4672584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scanned across 15+ dimensions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724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PMO KPI Dashboard · illustrative targets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77240" y="6400800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[Your Organization]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54112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·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96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package, and what each is for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377440" cy="0"/>
          </a:xfrm>
          <a:prstGeom prst="line">
            <a:avLst/>
          </a:prstGeom>
          <a:noFill/>
          <a:ln w="25400">
            <a:solidFill>
              <a:srgbClr val="006C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0312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&amp; Frameworks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542032"/>
            <a:ext cx="5042916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9748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PMO Charter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895265" y="269748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Mandate, authority, scope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3209544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64408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Catalogue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95265" y="3264408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services offered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776472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831336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 &amp; Type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95265" y="3831336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and type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343400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398264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Realisation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5265" y="4398264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Define, track, sustain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4910328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965192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Methodologies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895265" y="4965192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and lifecycle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" y="5477256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53212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Plan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95265" y="553212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Committees and decisions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6044184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8796" y="210312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68796" y="2542032"/>
            <a:ext cx="5042916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68796" y="269748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Request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86821" y="269748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changes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68796" y="3209544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3264408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Issue logs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86821" y="3264408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and resolve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68796" y="3776472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8796" y="3831336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 Mgmt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486821" y="3831336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accept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368796" y="4343400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8796" y="4398264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486821" y="4398264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and compliance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68796" y="4910328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68796" y="4965192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Classification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486821" y="4965192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by size and risk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368796" y="5477256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7240" y="6400800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[Your Organization]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54112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·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96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04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contents, continued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377440" cy="0"/>
          </a:xfrm>
          <a:prstGeom prst="line">
            <a:avLst/>
          </a:prstGeom>
          <a:noFill/>
          <a:ln w="25400">
            <a:solidFill>
              <a:srgbClr val="006C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0312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542032"/>
            <a:ext cx="5042916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9748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Charter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895265" y="269748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a project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3209544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64408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95265" y="3264408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Justify the investment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776472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831336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&amp; Requirements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95265" y="3831336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scope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343400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398264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5265" y="4398264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 responsibilities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4910328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965192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&amp; Comms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895265" y="4965192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 and inform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" y="5477256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53212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&amp; Closure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95265" y="553212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and close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6044184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8796" y="210312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6C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68796" y="2542032"/>
            <a:ext cx="5042916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68796" y="269748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P3M3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86821" y="2697480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maturity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68796" y="3209544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3264408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Tool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86821" y="3264408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the portfolio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68796" y="3776472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8796" y="3831336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Dashboard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486821" y="3831336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performance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368796" y="4343400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8796" y="4398264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486821" y="4398264"/>
            <a:ext cx="29248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reporting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68796" y="4910328"/>
            <a:ext cx="5042916" cy="0"/>
          </a:xfrm>
          <a:prstGeom prst="line">
            <a:avLst/>
          </a:prstGeom>
          <a:noFill/>
          <a:ln w="12700">
            <a:solidFill>
              <a:srgbClr val="ECF1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77240" y="6400800"/>
            <a:ext cx="10634472" cy="0"/>
          </a:xfrm>
          <a:prstGeom prst="line">
            <a:avLst/>
          </a:prstGeom>
          <a:noFill/>
          <a:ln w="12700">
            <a:solidFill>
              <a:srgbClr val="D9E6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724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[Your Organization]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754112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·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4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006C3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3E8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begin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2377440" cy="0"/>
          </a:xfrm>
          <a:prstGeom prst="line">
            <a:avLst/>
          </a:prstGeom>
          <a:noFill/>
          <a:ln w="25400">
            <a:solidFill>
              <a:srgbClr val="3E8C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688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C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60120" y="320040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sponsorship &amp; mandate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35858" y="2468880"/>
            <a:ext cx="0" cy="1828800"/>
          </a:xfrm>
          <a:prstGeom prst="line">
            <a:avLst/>
          </a:prstGeom>
          <a:noFill/>
          <a:ln w="12700">
            <a:solidFill>
              <a:srgbClr val="0A5A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8738" y="24688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C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18738" y="320040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assessment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4476" y="2468880"/>
            <a:ext cx="0" cy="1828800"/>
          </a:xfrm>
          <a:prstGeom prst="line">
            <a:avLst/>
          </a:prstGeom>
          <a:noFill/>
          <a:ln w="12700">
            <a:solidFill>
              <a:srgbClr val="0A5A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77356" y="24688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C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77356" y="320040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charter &amp; type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53094" y="2468880"/>
            <a:ext cx="0" cy="1828800"/>
          </a:xfrm>
          <a:prstGeom prst="line">
            <a:avLst/>
          </a:prstGeom>
          <a:noFill/>
          <a:ln w="12700">
            <a:solidFill>
              <a:srgbClr val="0A5A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35974" y="24688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C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935974" y="320040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Build, operate, improve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4937760"/>
            <a:ext cx="2377440" cy="0"/>
          </a:xfrm>
          <a:prstGeom prst="line">
            <a:avLst/>
          </a:prstGeom>
          <a:noFill/>
          <a:ln w="25400">
            <a:solidFill>
              <a:srgbClr val="3E8C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120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FE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it at the pace that suits the Office.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[Your Organization]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54112" y="6437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FE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ITPMO-in-a-Box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PMO Establishment Package</dc:title>
  <dc:subject/>
  <dc:creator>ITPMO-in-a-Box</dc:creator>
  <cp:lastModifiedBy>ITPMO-in-a-Box</cp:lastModifiedBy>
  <cp:revision>1</cp:revision>
  <dcterms:created xsi:type="dcterms:W3CDTF">2026-06-04T20:44:20Z</dcterms:created>
  <dcterms:modified xsi:type="dcterms:W3CDTF">2026-06-04T20:44:20Z</dcterms:modified>
</cp:coreProperties>
</file>